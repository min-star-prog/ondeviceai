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jp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201168"/>
          </a:xfrm>
          <a:prstGeom prst="rect">
            <a:avLst/>
          </a:prstGeom>
          <a:solidFill>
            <a:srgbClr val="0F316F"/>
          </a:solidFill>
          <a:ln w="13970">
            <a:solidFill>
              <a:srgbClr val="0F31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60120" y="2761488"/>
            <a:ext cx="155448" cy="4480560"/>
          </a:xfrm>
          <a:prstGeom prst="rect">
            <a:avLst/>
          </a:prstGeom>
          <a:solidFill>
            <a:srgbClr val="2754BC"/>
          </a:solidFill>
          <a:ln w="13970">
            <a:solidFill>
              <a:srgbClr val="2754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27048" y="2615184"/>
            <a:ext cx="2194560" cy="109728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500" b="1">
                <a:solidFill>
                  <a:srgbClr val="2754BC"/>
                </a:solidFill>
                <a:latin typeface="Malgun Gothic"/>
                <a:ea typeface="Malgun Gothic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99616" y="3675887"/>
            <a:ext cx="11064240" cy="11430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00" b="1">
                <a:solidFill>
                  <a:srgbClr val="131A24"/>
                </a:solidFill>
                <a:latin typeface="Malgun Gothic"/>
                <a:ea typeface="Malgun Gothic"/>
              </a:rPr>
              <a:t>Core Tech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45336" y="5065776"/>
            <a:ext cx="13990320" cy="70408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5B6C7F"/>
                </a:solidFill>
                <a:latin typeface="Malgun Gothic"/>
                <a:ea typeface="Malgun Gothic"/>
              </a:rPr>
              <a:t>사람 동작 해석 · 5축 로봇 제어 · 기록/재생</a:t>
            </a:r>
          </a:p>
        </p:txBody>
      </p:sp>
      <p:pic>
        <p:nvPicPr>
          <p:cNvPr id="7" name="Picture 6" descr="kcc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21840" y="475488"/>
            <a:ext cx="2880360" cy="52120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36192" y="7927848"/>
            <a:ext cx="8229600" cy="47548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0F316F"/>
                </a:solidFill>
                <a:latin typeface="Malgun Gothic"/>
                <a:ea typeface="Malgun Gothic"/>
              </a:rPr>
              <a:t>로봇팔 제어 소프트웨어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49808" y="832104"/>
            <a:ext cx="438912" cy="438912"/>
          </a:xfrm>
          <a:prstGeom prst="ellipse">
            <a:avLst/>
          </a:prstGeom>
          <a:solidFill>
            <a:srgbClr val="275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804672"/>
            <a:ext cx="438912" cy="438912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Malgun Gothic"/>
                <a:ea typeface="Malgun Gothic"/>
              </a:rPr>
              <a:t>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53312" y="557784"/>
            <a:ext cx="13533120" cy="969264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900" b="1">
                <a:solidFill>
                  <a:srgbClr val="131A24"/>
                </a:solidFill>
                <a:latin typeface="Malgun Gothic"/>
                <a:ea typeface="Malgun Gothic"/>
              </a:rPr>
              <a:t>로봇팔 제어 SW 구조</a:t>
            </a:r>
          </a:p>
        </p:txBody>
      </p:sp>
      <p:pic>
        <p:nvPicPr>
          <p:cNvPr id="5" name="Picture 4" descr="kcc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77288" y="310896"/>
            <a:ext cx="2834640" cy="512064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749808" y="1828800"/>
            <a:ext cx="16779240" cy="0"/>
          </a:xfrm>
          <a:prstGeom prst="line">
            <a:avLst/>
          </a:prstGeom>
          <a:ln w="16510">
            <a:solidFill>
              <a:srgbClr val="D3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68096" y="9848088"/>
            <a:ext cx="2743200" cy="24688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C7F"/>
                </a:solidFill>
                <a:latin typeface="Malgun Gothic"/>
                <a:ea typeface="Malgun Gothic"/>
              </a:rPr>
              <a:t>2. Core Tech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62120" y="9838944"/>
            <a:ext cx="512064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C7F"/>
                </a:solidFill>
                <a:latin typeface="Malgun Gothic"/>
                <a:ea typeface="Malgun Gothic"/>
              </a:rPr>
              <a:t>02</a:t>
            </a:r>
          </a:p>
        </p:txBody>
      </p:sp>
      <p:pic>
        <p:nvPicPr>
          <p:cNvPr id="9" name="Picture 8" descr="sw_stack_bod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075688"/>
            <a:ext cx="16568928" cy="705002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49808" y="832104"/>
            <a:ext cx="438912" cy="438912"/>
          </a:xfrm>
          <a:prstGeom prst="ellipse">
            <a:avLst/>
          </a:prstGeom>
          <a:solidFill>
            <a:srgbClr val="275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804672"/>
            <a:ext cx="438912" cy="438912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Malgun Gothic"/>
                <a:ea typeface="Malgun Gothic"/>
              </a:rPr>
              <a:t>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53312" y="557784"/>
            <a:ext cx="13533120" cy="969264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900" b="1">
                <a:solidFill>
                  <a:srgbClr val="131A24"/>
                </a:solidFill>
                <a:latin typeface="Malgun Gothic"/>
                <a:ea typeface="Malgun Gothic"/>
              </a:rPr>
              <a:t>사람 자세 해석</a:t>
            </a:r>
          </a:p>
        </p:txBody>
      </p:sp>
      <p:pic>
        <p:nvPicPr>
          <p:cNvPr id="5" name="Picture 4" descr="kcc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77288" y="310896"/>
            <a:ext cx="2834640" cy="512064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749808" y="1828800"/>
            <a:ext cx="16779240" cy="0"/>
          </a:xfrm>
          <a:prstGeom prst="line">
            <a:avLst/>
          </a:prstGeom>
          <a:ln w="16510">
            <a:solidFill>
              <a:srgbClr val="D3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68096" y="9848088"/>
            <a:ext cx="2743200" cy="24688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C7F"/>
                </a:solidFill>
                <a:latin typeface="Malgun Gothic"/>
                <a:ea typeface="Malgun Gothic"/>
              </a:rPr>
              <a:t>2. Core Tech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62120" y="9838944"/>
            <a:ext cx="512064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C7F"/>
                </a:solidFill>
                <a:latin typeface="Malgun Gothic"/>
                <a:ea typeface="Malgun Gothic"/>
              </a:rPr>
              <a:t>03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2350008"/>
            <a:ext cx="8229600" cy="4901184"/>
          </a:xfrm>
          <a:prstGeom prst="rect">
            <a:avLst/>
          </a:prstGeom>
          <a:solidFill>
            <a:srgbClr val="FFFFFF"/>
          </a:solidFill>
          <a:ln w="13970">
            <a:solidFill>
              <a:srgbClr val="D3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robot_overview_fram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2432304"/>
            <a:ext cx="8065008" cy="47365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04672" y="7397496"/>
            <a:ext cx="8321040" cy="41148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B6C7F"/>
                </a:solidFill>
                <a:latin typeface="Malgun Gothic"/>
                <a:ea typeface="Malgun Gothic"/>
              </a:rPr>
              <a:t>실제 영상 입력과 3D 자세를 함께 확인한 PC 재생 화면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46920" y="2295144"/>
            <a:ext cx="7882127" cy="1261872"/>
          </a:xfrm>
          <a:prstGeom prst="roundRect">
            <a:avLst>
              <a:gd name="adj" fmla="val 12000"/>
            </a:avLst>
          </a:prstGeom>
          <a:solidFill>
            <a:srgbClr val="EEF4FF"/>
          </a:solidFill>
          <a:ln w="13970">
            <a:solidFill>
              <a:srgbClr val="D3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0" y="2551176"/>
            <a:ext cx="685800" cy="621792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2754BC"/>
                </a:solidFill>
                <a:latin typeface="Malgun Gothic"/>
                <a:ea typeface="Malgun Gothic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53344" y="2423160"/>
            <a:ext cx="6437376" cy="466344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31A24"/>
                </a:solidFill>
                <a:latin typeface="Malgun Gothic"/>
                <a:ea typeface="Malgun Gothic"/>
              </a:rPr>
              <a:t>2D 자세 입력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53344" y="2962656"/>
            <a:ext cx="6437376" cy="393192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5B6C7F"/>
                </a:solidFill>
                <a:latin typeface="Malgun Gothic"/>
                <a:ea typeface="Malgun Gothic"/>
              </a:rPr>
              <a:t>양어깨·팔꿈치·손목·손가락 좌표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46920" y="3794759"/>
            <a:ext cx="7882127" cy="1261872"/>
          </a:xfrm>
          <a:prstGeom prst="roundRect">
            <a:avLst>
              <a:gd name="adj" fmla="val 12000"/>
            </a:avLst>
          </a:prstGeom>
          <a:solidFill>
            <a:srgbClr val="EEF4FF"/>
          </a:solidFill>
          <a:ln w="13970">
            <a:solidFill>
              <a:srgbClr val="D3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5520" y="4050791"/>
            <a:ext cx="685800" cy="621792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2754BC"/>
                </a:solidFill>
                <a:latin typeface="Malgun Gothic"/>
                <a:ea typeface="Malgun Gothic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53344" y="3922775"/>
            <a:ext cx="6437376" cy="466344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31A24"/>
                </a:solidFill>
                <a:latin typeface="Malgun Gothic"/>
                <a:ea typeface="Malgun Gothic"/>
              </a:rPr>
              <a:t>3D 복원과 EMA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53344" y="4462271"/>
            <a:ext cx="6437376" cy="393192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5B6C7F"/>
                </a:solidFill>
                <a:latin typeface="Malgun Gothic"/>
                <a:ea typeface="Malgun Gothic"/>
              </a:rPr>
              <a:t>상대 깊이를 복원하고 좌표 흔들림 완화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46920" y="5294375"/>
            <a:ext cx="7882127" cy="1261872"/>
          </a:xfrm>
          <a:prstGeom prst="roundRect">
            <a:avLst>
              <a:gd name="adj" fmla="val 12000"/>
            </a:avLst>
          </a:prstGeom>
          <a:solidFill>
            <a:srgbClr val="EEF4FF"/>
          </a:solidFill>
          <a:ln w="13970">
            <a:solidFill>
              <a:srgbClr val="D3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75520" y="5550407"/>
            <a:ext cx="685800" cy="621792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2754BC"/>
                </a:solidFill>
                <a:latin typeface="Malgun Gothic"/>
                <a:ea typeface="Malgun Gothic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53344" y="5422391"/>
            <a:ext cx="6437376" cy="466344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31A24"/>
                </a:solidFill>
                <a:latin typeface="Malgun Gothic"/>
                <a:ea typeface="Malgun Gothic"/>
              </a:rPr>
              <a:t>몸 기준 좌표계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53344" y="5961888"/>
            <a:ext cx="6437376" cy="393192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5B6C7F"/>
                </a:solidFill>
                <a:latin typeface="Malgun Gothic"/>
                <a:ea typeface="Malgun Gothic"/>
              </a:rPr>
              <a:t>양어깨와 CameraUp으로 BodyFrame 계산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46920" y="6793992"/>
            <a:ext cx="7882127" cy="1261872"/>
          </a:xfrm>
          <a:prstGeom prst="roundRect">
            <a:avLst>
              <a:gd name="adj" fmla="val 12000"/>
            </a:avLst>
          </a:prstGeom>
          <a:solidFill>
            <a:srgbClr val="EEF4FF"/>
          </a:solidFill>
          <a:ln w="13970">
            <a:solidFill>
              <a:srgbClr val="D3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75520" y="7050024"/>
            <a:ext cx="685800" cy="621792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2754BC"/>
                </a:solidFill>
                <a:latin typeface="Malgun Gothic"/>
                <a:ea typeface="Malgun Gothic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53344" y="6922007"/>
            <a:ext cx="6437376" cy="466344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31A24"/>
                </a:solidFill>
                <a:latin typeface="Malgun Gothic"/>
                <a:ea typeface="Malgun Gothic"/>
              </a:rPr>
              <a:t>사람 목표값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53344" y="7461504"/>
            <a:ext cx="6437376" cy="393192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5B6C7F"/>
                </a:solidFill>
                <a:latin typeface="Malgun Gothic"/>
                <a:ea typeface="Malgun Gothic"/>
              </a:rPr>
              <a:t>팔꿈치·손목 4각도와 그리퍼 개폐값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49808" y="832104"/>
            <a:ext cx="438912" cy="438912"/>
          </a:xfrm>
          <a:prstGeom prst="ellipse">
            <a:avLst/>
          </a:prstGeom>
          <a:solidFill>
            <a:srgbClr val="275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804672"/>
            <a:ext cx="438912" cy="438912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Malgun Gothic"/>
                <a:ea typeface="Malgun Gothic"/>
              </a:rPr>
              <a:t>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53312" y="557784"/>
            <a:ext cx="13533120" cy="969264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900" b="1">
                <a:solidFill>
                  <a:srgbClr val="131A24"/>
                </a:solidFill>
                <a:latin typeface="Malgun Gothic"/>
                <a:ea typeface="Malgun Gothic"/>
              </a:rPr>
              <a:t>사람 각도에서 로봇 동작까지</a:t>
            </a:r>
          </a:p>
        </p:txBody>
      </p:sp>
      <p:pic>
        <p:nvPicPr>
          <p:cNvPr id="5" name="Picture 4" descr="kcc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77288" y="310896"/>
            <a:ext cx="2834640" cy="512064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749808" y="1828800"/>
            <a:ext cx="16779240" cy="0"/>
          </a:xfrm>
          <a:prstGeom prst="line">
            <a:avLst/>
          </a:prstGeom>
          <a:ln w="16510">
            <a:solidFill>
              <a:srgbClr val="D3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68096" y="9848088"/>
            <a:ext cx="2743200" cy="24688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C7F"/>
                </a:solidFill>
                <a:latin typeface="Malgun Gothic"/>
                <a:ea typeface="Malgun Gothic"/>
              </a:rPr>
              <a:t>2. Core Tech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62120" y="9838944"/>
            <a:ext cx="512064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C7F"/>
                </a:solidFill>
                <a:latin typeface="Malgun Gothic"/>
                <a:ea typeface="Malgun Gothic"/>
              </a:rPr>
              <a:t>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231136"/>
            <a:ext cx="16459200" cy="1078992"/>
          </a:xfrm>
          <a:prstGeom prst="roundRect">
            <a:avLst>
              <a:gd name="adj" fmla="val 12000"/>
            </a:avLst>
          </a:prstGeom>
          <a:solidFill>
            <a:srgbClr val="EEF4FF"/>
          </a:solidFill>
          <a:ln w="13970">
            <a:solidFill>
              <a:srgbClr val="B9C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89888" y="2386584"/>
            <a:ext cx="15508224" cy="740664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500" b="1">
                <a:solidFill>
                  <a:srgbClr val="0F316F"/>
                </a:solidFill>
                <a:latin typeface="Malgun Gothic"/>
                <a:ea typeface="Malgun Gothic"/>
              </a:rPr>
              <a:t>서보 목표각 = 사람 각도 × 크기 × 방향 + 기준각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657600"/>
            <a:ext cx="5166360" cy="3337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D3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3657600"/>
            <a:ext cx="109728" cy="3337560"/>
          </a:xfrm>
          <a:prstGeom prst="rect">
            <a:avLst/>
          </a:prstGeom>
          <a:solidFill>
            <a:srgbClr val="2754BC"/>
          </a:solidFill>
          <a:ln w="13970">
            <a:solidFill>
              <a:srgbClr val="2754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97864" y="3886200"/>
            <a:ext cx="4654296" cy="484632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2754BC"/>
                </a:solidFill>
                <a:latin typeface="Malgun Gothic"/>
                <a:ea typeface="Malgun Gothic"/>
              </a:rPr>
              <a:t>각도 보정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97864" y="4434840"/>
            <a:ext cx="4654296" cy="235000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131A24"/>
                </a:solidFill>
                <a:latin typeface="Malgun Gothic"/>
                <a:ea typeface="Malgun Gothic"/>
              </a:rPr>
              <a:t>관절별 방향과 기준각을 적용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131A24"/>
                </a:solidFill>
                <a:latin typeface="Malgun Gothic"/>
                <a:ea typeface="Malgun Gothic"/>
              </a:rPr>
              <a:t>예: 팔꿈치 방위각 30° → 서보 60°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65392" y="3657600"/>
            <a:ext cx="5166360" cy="3337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D3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65392" y="3657600"/>
            <a:ext cx="109728" cy="3337560"/>
          </a:xfrm>
          <a:prstGeom prst="rect">
            <a:avLst/>
          </a:prstGeom>
          <a:solidFill>
            <a:srgbClr val="EF6A41"/>
          </a:solidFill>
          <a:ln w="13970">
            <a:solidFill>
              <a:srgbClr val="EF6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48855" y="3886200"/>
            <a:ext cx="4654296" cy="484632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EF6A41"/>
                </a:solidFill>
                <a:latin typeface="Malgun Gothic"/>
                <a:ea typeface="Malgun Gothic"/>
              </a:rPr>
              <a:t>명령 검사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48855" y="4434840"/>
            <a:ext cx="4654296" cy="235000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131A24"/>
                </a:solidFill>
                <a:latin typeface="Malgun Gothic"/>
                <a:ea typeface="Malgun Gothic"/>
              </a:rPr>
              <a:t>서보 범위 확인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131A24"/>
                </a:solidFill>
                <a:latin typeface="Malgun Gothic"/>
                <a:ea typeface="Malgun Gothic"/>
              </a:rPr>
              <a:t>3D FK로 자기 충돌·테이블 충돌 검사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2216384" y="3657600"/>
            <a:ext cx="5166360" cy="3337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D3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216384" y="3657600"/>
            <a:ext cx="109728" cy="3337560"/>
          </a:xfrm>
          <a:prstGeom prst="rect">
            <a:avLst/>
          </a:prstGeom>
          <a:solidFill>
            <a:srgbClr val="42976D"/>
          </a:solidFill>
          <a:ln w="13970">
            <a:solidFill>
              <a:srgbClr val="429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499848" y="3886200"/>
            <a:ext cx="4654296" cy="484632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42976D"/>
                </a:solidFill>
                <a:latin typeface="Malgun Gothic"/>
                <a:ea typeface="Malgun Gothic"/>
              </a:rPr>
              <a:t>움직임 계산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499848" y="4434840"/>
            <a:ext cx="4654296" cy="235000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131A24"/>
                </a:solidFill>
                <a:latin typeface="Malgun Gothic"/>
                <a:ea typeface="Malgun Gothic"/>
              </a:rPr>
              <a:t>4개 회전축에 속도·가속도 제한 적용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131A24"/>
                </a:solidFill>
                <a:latin typeface="Malgun Gothic"/>
                <a:ea typeface="Malgun Gothic"/>
              </a:rPr>
              <a:t>다음 명령 각도를 함께 갱신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7434072"/>
            <a:ext cx="16459200" cy="1252728"/>
          </a:xfrm>
          <a:prstGeom prst="roundRect">
            <a:avLst>
              <a:gd name="adj" fmla="val 12000"/>
            </a:avLst>
          </a:prstGeom>
          <a:solidFill>
            <a:srgbClr val="F7F9FD"/>
          </a:solidFill>
          <a:ln w="13970">
            <a:solidFill>
              <a:srgbClr val="D3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25880" y="7699248"/>
            <a:ext cx="15636240" cy="676656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F316F"/>
                </a:solidFill>
                <a:latin typeface="Malgun Gothic"/>
                <a:ea typeface="Malgun Gothic"/>
              </a:rPr>
              <a:t>입력 프레임이 잠시 끊겨도 마지막으로 승인한 목표까지 이동한 뒤 명령 자세를 유지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49808" y="832104"/>
            <a:ext cx="438912" cy="438912"/>
          </a:xfrm>
          <a:prstGeom prst="ellipse">
            <a:avLst/>
          </a:prstGeom>
          <a:solidFill>
            <a:srgbClr val="275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804672"/>
            <a:ext cx="438912" cy="438912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Malgun Gothic"/>
                <a:ea typeface="Malgun Gothic"/>
              </a:rPr>
              <a:t>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53312" y="557784"/>
            <a:ext cx="13533120" cy="969264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900" b="1">
                <a:solidFill>
                  <a:srgbClr val="131A24"/>
                </a:solidFill>
                <a:latin typeface="Malgun Gothic"/>
                <a:ea typeface="Malgun Gothic"/>
              </a:rPr>
              <a:t>5축 서보 PWM 출력</a:t>
            </a:r>
          </a:p>
        </p:txBody>
      </p:sp>
      <p:pic>
        <p:nvPicPr>
          <p:cNvPr id="5" name="Picture 4" descr="kcc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77288" y="310896"/>
            <a:ext cx="2834640" cy="512064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749808" y="1828800"/>
            <a:ext cx="16779240" cy="0"/>
          </a:xfrm>
          <a:prstGeom prst="line">
            <a:avLst/>
          </a:prstGeom>
          <a:ln w="16510">
            <a:solidFill>
              <a:srgbClr val="D3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68096" y="9848088"/>
            <a:ext cx="2743200" cy="24688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C7F"/>
                </a:solidFill>
                <a:latin typeface="Malgun Gothic"/>
                <a:ea typeface="Malgun Gothic"/>
              </a:rPr>
              <a:t>2. Core Tech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62120" y="9838944"/>
            <a:ext cx="512064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C7F"/>
                </a:solidFill>
                <a:latin typeface="Malgun Gothic"/>
                <a:ea typeface="Malgun Gothic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95144"/>
            <a:ext cx="7498079" cy="484632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F316F"/>
                </a:solidFill>
                <a:latin typeface="Malgun Gothic"/>
                <a:ea typeface="Malgun Gothic"/>
              </a:rPr>
              <a:t>출력 채널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2926080"/>
            <a:ext cx="7406640" cy="859536"/>
          </a:xfrm>
          <a:prstGeom prst="rect">
            <a:avLst/>
          </a:prstGeom>
          <a:solidFill>
            <a:srgbClr val="EEF4FF"/>
          </a:solidFill>
          <a:ln w="13970">
            <a:solidFill>
              <a:srgbClr val="D3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3081528"/>
            <a:ext cx="1069848" cy="493776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754BC"/>
                </a:solidFill>
                <a:latin typeface="Malgun Gothic"/>
                <a:ea typeface="Malgun Gothic"/>
              </a:rPr>
              <a:t>CH0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13432" y="3081528"/>
            <a:ext cx="3236976" cy="493776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31A24"/>
                </a:solidFill>
                <a:latin typeface="Malgun Gothic"/>
                <a:ea typeface="Malgun Gothic"/>
              </a:rPr>
              <a:t>팔꿈치 방위각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59552" y="3090672"/>
            <a:ext cx="2514600" cy="47548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B6C7F"/>
                </a:solidFill>
                <a:latin typeface="Malgun Gothic"/>
                <a:ea typeface="Malgun Gothic"/>
              </a:rPr>
              <a:t>elbow_roll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3959352"/>
            <a:ext cx="7406640" cy="859536"/>
          </a:xfrm>
          <a:prstGeom prst="rect">
            <a:avLst/>
          </a:prstGeom>
          <a:solidFill>
            <a:srgbClr val="FFFFFF"/>
          </a:solidFill>
          <a:ln w="13970">
            <a:solidFill>
              <a:srgbClr val="D3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70432" y="4114800"/>
            <a:ext cx="1069848" cy="493776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754BC"/>
                </a:solidFill>
                <a:latin typeface="Malgun Gothic"/>
                <a:ea typeface="Malgun Gothic"/>
              </a:rPr>
              <a:t>CH1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13432" y="4114800"/>
            <a:ext cx="3236976" cy="493776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31A24"/>
                </a:solidFill>
                <a:latin typeface="Malgun Gothic"/>
                <a:ea typeface="Malgun Gothic"/>
              </a:rPr>
              <a:t>팔꿈치 고도각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59552" y="4123944"/>
            <a:ext cx="2514600" cy="47548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B6C7F"/>
                </a:solidFill>
                <a:latin typeface="Malgun Gothic"/>
                <a:ea typeface="Malgun Gothic"/>
              </a:rPr>
              <a:t>elbow_pitch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4992624"/>
            <a:ext cx="7406640" cy="859536"/>
          </a:xfrm>
          <a:prstGeom prst="rect">
            <a:avLst/>
          </a:prstGeom>
          <a:solidFill>
            <a:srgbClr val="EEF4FF"/>
          </a:solidFill>
          <a:ln w="13970">
            <a:solidFill>
              <a:srgbClr val="D3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70432" y="5148072"/>
            <a:ext cx="1069848" cy="493776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754BC"/>
                </a:solidFill>
                <a:latin typeface="Malgun Gothic"/>
                <a:ea typeface="Malgun Gothic"/>
              </a:rPr>
              <a:t>CH2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13432" y="5148072"/>
            <a:ext cx="3236976" cy="493776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31A24"/>
                </a:solidFill>
                <a:latin typeface="Malgun Gothic"/>
                <a:ea typeface="Malgun Gothic"/>
              </a:rPr>
              <a:t>손목 굽힘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59552" y="5157216"/>
            <a:ext cx="2514600" cy="47548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B6C7F"/>
                </a:solidFill>
                <a:latin typeface="Malgun Gothic"/>
                <a:ea typeface="Malgun Gothic"/>
              </a:rPr>
              <a:t>wrist_pitch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6025896"/>
            <a:ext cx="7406640" cy="859536"/>
          </a:xfrm>
          <a:prstGeom prst="rect">
            <a:avLst/>
          </a:prstGeom>
          <a:solidFill>
            <a:srgbClr val="FFFFFF"/>
          </a:solidFill>
          <a:ln w="13970">
            <a:solidFill>
              <a:srgbClr val="D3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70432" y="6181344"/>
            <a:ext cx="1069848" cy="493776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754BC"/>
                </a:solidFill>
                <a:latin typeface="Malgun Gothic"/>
                <a:ea typeface="Malgun Gothic"/>
              </a:rPr>
              <a:t>CH3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13432" y="6181344"/>
            <a:ext cx="3236976" cy="493776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31A24"/>
                </a:solidFill>
                <a:latin typeface="Malgun Gothic"/>
                <a:ea typeface="Malgun Gothic"/>
              </a:rPr>
              <a:t>손목 회전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59552" y="6190488"/>
            <a:ext cx="2514600" cy="47548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B6C7F"/>
                </a:solidFill>
                <a:latin typeface="Malgun Gothic"/>
                <a:ea typeface="Malgun Gothic"/>
              </a:rPr>
              <a:t>wrist_roll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" y="7059168"/>
            <a:ext cx="7406640" cy="859536"/>
          </a:xfrm>
          <a:prstGeom prst="rect">
            <a:avLst/>
          </a:prstGeom>
          <a:solidFill>
            <a:srgbClr val="EEF4FF"/>
          </a:solidFill>
          <a:ln w="13970">
            <a:solidFill>
              <a:srgbClr val="D3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70432" y="7214616"/>
            <a:ext cx="1069848" cy="493776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754BC"/>
                </a:solidFill>
                <a:latin typeface="Malgun Gothic"/>
                <a:ea typeface="Malgun Gothic"/>
              </a:rPr>
              <a:t>CH4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13432" y="7214616"/>
            <a:ext cx="3236976" cy="493776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31A24"/>
                </a:solidFill>
                <a:latin typeface="Malgun Gothic"/>
                <a:ea typeface="Malgun Gothic"/>
              </a:rPr>
              <a:t>그리퍼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59552" y="7223759"/>
            <a:ext cx="2514600" cy="47548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B6C7F"/>
                </a:solidFill>
                <a:latin typeface="Malgun Gothic"/>
                <a:ea typeface="Malgun Gothic"/>
              </a:rPr>
              <a:t>gripper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235440" y="2322576"/>
            <a:ext cx="8138160" cy="58704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D3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46920" y="2560320"/>
            <a:ext cx="7251192" cy="585216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F316F"/>
                </a:solidFill>
                <a:latin typeface="Malgun Gothic"/>
                <a:ea typeface="Malgun Gothic"/>
              </a:rPr>
              <a:t>출력 단계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646920" y="3374136"/>
            <a:ext cx="7306056" cy="1152144"/>
          </a:xfrm>
          <a:prstGeom prst="roundRect">
            <a:avLst>
              <a:gd name="adj" fmla="val 12000"/>
            </a:avLst>
          </a:prstGeom>
          <a:solidFill>
            <a:srgbClr val="F7F9FD"/>
          </a:solidFill>
          <a:ln w="13970">
            <a:solidFill>
              <a:srgbClr val="D3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884664" y="3557016"/>
            <a:ext cx="612648" cy="694944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2754BC"/>
                </a:solidFill>
                <a:latin typeface="Malgun Gothic"/>
                <a:ea typeface="Malgun Gothic"/>
              </a:rPr>
              <a:t>01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25328" y="3465576"/>
            <a:ext cx="5952744" cy="438912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31A24"/>
                </a:solidFill>
                <a:latin typeface="Malgun Gothic"/>
                <a:ea typeface="Malgun Gothic"/>
              </a:rPr>
              <a:t>각도 → 펄스폭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25328" y="3913632"/>
            <a:ext cx="5961888" cy="402336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B6C7F"/>
                </a:solidFill>
                <a:latin typeface="Malgun Gothic"/>
                <a:ea typeface="Malgun Gothic"/>
              </a:rPr>
              <a:t>축별 min·center·max 기준값으로 µs 변환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646920" y="4800600"/>
            <a:ext cx="7306056" cy="1152144"/>
          </a:xfrm>
          <a:prstGeom prst="roundRect">
            <a:avLst>
              <a:gd name="adj" fmla="val 12000"/>
            </a:avLst>
          </a:prstGeom>
          <a:solidFill>
            <a:srgbClr val="F7F9FD"/>
          </a:solidFill>
          <a:ln w="13970">
            <a:solidFill>
              <a:srgbClr val="D3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84664" y="4983480"/>
            <a:ext cx="612648" cy="694944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2754BC"/>
                </a:solidFill>
                <a:latin typeface="Malgun Gothic"/>
                <a:ea typeface="Malgun Gothic"/>
              </a:rPr>
              <a:t>02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25328" y="4892040"/>
            <a:ext cx="5952744" cy="438912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31A24"/>
                </a:solidFill>
                <a:latin typeface="Malgun Gothic"/>
                <a:ea typeface="Malgun Gothic"/>
              </a:rPr>
              <a:t>레지스터 기록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625328" y="5340096"/>
            <a:ext cx="5961888" cy="402336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B6C7F"/>
                </a:solidFill>
                <a:latin typeface="Malgun Gothic"/>
                <a:ea typeface="Malgun Gothic"/>
              </a:rPr>
              <a:t>CH0~CH4 값을 AXI4-Lite에 기록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646920" y="6227064"/>
            <a:ext cx="7306056" cy="1152144"/>
          </a:xfrm>
          <a:prstGeom prst="roundRect">
            <a:avLst>
              <a:gd name="adj" fmla="val 12000"/>
            </a:avLst>
          </a:prstGeom>
          <a:solidFill>
            <a:srgbClr val="F7F9FD"/>
          </a:solidFill>
          <a:ln w="13970">
            <a:solidFill>
              <a:srgbClr val="D3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884664" y="6409944"/>
            <a:ext cx="612648" cy="694944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2754BC"/>
                </a:solidFill>
                <a:latin typeface="Malgun Gothic"/>
                <a:ea typeface="Malgun Gothic"/>
              </a:rPr>
              <a:t>03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625328" y="6318504"/>
            <a:ext cx="5952744" cy="438912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31A24"/>
                </a:solidFill>
                <a:latin typeface="Malgun Gothic"/>
                <a:ea typeface="Malgun Gothic"/>
              </a:rPr>
              <a:t>동시 적용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625328" y="6766560"/>
            <a:ext cx="5961888" cy="402336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B6C7F"/>
                </a:solidFill>
                <a:latin typeface="Malgun Gothic"/>
                <a:ea typeface="Malgun Gothic"/>
              </a:rPr>
              <a:t>UPDATE 레지스터로 5채널 값 반영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8641080"/>
            <a:ext cx="16367759" cy="493776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B6C7F"/>
                </a:solidFill>
                <a:latin typeface="Malgun Gothic"/>
                <a:ea typeface="Malgun Gothic"/>
              </a:rPr>
              <a:t>기본 통합 빌드에서는 로봇 PWM 적용을 끄고, 별도 빌드에서 출력합니다.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49808" y="832104"/>
            <a:ext cx="438912" cy="438912"/>
          </a:xfrm>
          <a:prstGeom prst="ellipse">
            <a:avLst/>
          </a:prstGeom>
          <a:solidFill>
            <a:srgbClr val="275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804672"/>
            <a:ext cx="438912" cy="438912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Malgun Gothic"/>
                <a:ea typeface="Malgun Gothic"/>
              </a:rPr>
              <a:t>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53312" y="557784"/>
            <a:ext cx="13533120" cy="969264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900" b="1">
                <a:solidFill>
                  <a:srgbClr val="131A24"/>
                </a:solidFill>
                <a:latin typeface="Malgun Gothic"/>
                <a:ea typeface="Malgun Gothic"/>
              </a:rPr>
              <a:t>동작 기록·재생</a:t>
            </a:r>
          </a:p>
        </p:txBody>
      </p:sp>
      <p:pic>
        <p:nvPicPr>
          <p:cNvPr id="5" name="Picture 4" descr="kcc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77288" y="310896"/>
            <a:ext cx="2834640" cy="512064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749808" y="1828800"/>
            <a:ext cx="16779240" cy="0"/>
          </a:xfrm>
          <a:prstGeom prst="line">
            <a:avLst/>
          </a:prstGeom>
          <a:ln w="16510">
            <a:solidFill>
              <a:srgbClr val="D3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68096" y="9848088"/>
            <a:ext cx="2743200" cy="24688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C7F"/>
                </a:solidFill>
                <a:latin typeface="Malgun Gothic"/>
                <a:ea typeface="Malgun Gothic"/>
              </a:rPr>
              <a:t>2. Core Tech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62120" y="9838944"/>
            <a:ext cx="512064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C7F"/>
                </a:solidFill>
                <a:latin typeface="Malgun Gothic"/>
                <a:ea typeface="Malgun Gothic"/>
              </a:rPr>
              <a:t>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331720"/>
            <a:ext cx="16459200" cy="914400"/>
          </a:xfrm>
          <a:prstGeom prst="roundRect">
            <a:avLst>
              <a:gd name="adj" fmla="val 12000"/>
            </a:avLst>
          </a:prstGeom>
          <a:solidFill>
            <a:srgbClr val="F8FAFD"/>
          </a:solidFill>
          <a:ln w="13970">
            <a:solidFill>
              <a:srgbClr val="D3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97864" y="2523744"/>
            <a:ext cx="1197864" cy="521207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2754BC"/>
                </a:solidFill>
                <a:latin typeface="Malgun Gothic"/>
                <a:ea typeface="Malgun Gothic"/>
              </a:rPr>
              <a:t>녹화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72384" y="2496312"/>
            <a:ext cx="8412480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F316F"/>
                </a:solidFill>
                <a:latin typeface="Malgun Gothic"/>
                <a:ea typeface="Malgun Gothic"/>
              </a:rPr>
              <a:t>LIVE  ⇄  RECORDING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14632" y="2532888"/>
            <a:ext cx="4992624" cy="47548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5B6C7F"/>
                </a:solidFill>
                <a:latin typeface="Malgun Gothic"/>
                <a:ea typeface="Malgun Gothic"/>
              </a:rPr>
              <a:t>UART R로 시작·종료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438144"/>
            <a:ext cx="16459200" cy="914400"/>
          </a:xfrm>
          <a:prstGeom prst="roundRect">
            <a:avLst>
              <a:gd name="adj" fmla="val 12000"/>
            </a:avLst>
          </a:prstGeom>
          <a:solidFill>
            <a:srgbClr val="F5FAF7"/>
          </a:solidFill>
          <a:ln w="13970">
            <a:solidFill>
              <a:srgbClr val="D3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97864" y="3630168"/>
            <a:ext cx="1197864" cy="521207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42976D"/>
                </a:solidFill>
                <a:latin typeface="Malgun Gothic"/>
                <a:ea typeface="Malgun Gothic"/>
              </a:rPr>
              <a:t>재생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72384" y="3611880"/>
            <a:ext cx="11247120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42976D"/>
                </a:solidFill>
                <a:latin typeface="Malgun Gothic"/>
                <a:ea typeface="Malgun Gothic"/>
              </a:rPr>
              <a:t>LIVE  →  ALIGNING  →  PLAYING  →  HOLDING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374368" y="3648456"/>
            <a:ext cx="2606040" cy="47548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B6C7F"/>
                </a:solidFill>
                <a:latin typeface="Malgun Gothic"/>
                <a:ea typeface="Malgun Gothic"/>
              </a:rPr>
              <a:t>P로 LIVE 복귀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2" y="4754880"/>
            <a:ext cx="5166360" cy="33192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D3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6112" y="4754880"/>
            <a:ext cx="109728" cy="3319272"/>
          </a:xfrm>
          <a:prstGeom prst="rect">
            <a:avLst/>
          </a:prstGeom>
          <a:solidFill>
            <a:srgbClr val="2754BC"/>
          </a:solidFill>
          <a:ln w="13970">
            <a:solidFill>
              <a:srgbClr val="2754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79576" y="4983480"/>
            <a:ext cx="4654296" cy="484632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2754BC"/>
                </a:solidFill>
                <a:latin typeface="Malgun Gothic"/>
                <a:ea typeface="Malgun Gothic"/>
              </a:rPr>
              <a:t>기록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79576" y="5532120"/>
            <a:ext cx="4654296" cy="23317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131A24"/>
                </a:solidFill>
                <a:latin typeface="Malgun Gothic"/>
                <a:ea typeface="Malgun Gothic"/>
              </a:rPr>
              <a:t>검증·출력한 5축 명령을 저장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131A24"/>
                </a:solidFill>
                <a:latin typeface="Malgun Gothic"/>
                <a:ea typeface="Malgun Gothic"/>
              </a:rPr>
              <a:t>20 ms 간격, 최대 1024샘플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56248" y="4754880"/>
            <a:ext cx="5166360" cy="33192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D3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56248" y="4754880"/>
            <a:ext cx="109728" cy="3319272"/>
          </a:xfrm>
          <a:prstGeom prst="rect">
            <a:avLst/>
          </a:prstGeom>
          <a:solidFill>
            <a:srgbClr val="EF6A41"/>
          </a:solidFill>
          <a:ln w="13970">
            <a:solidFill>
              <a:srgbClr val="EF6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39712" y="4983480"/>
            <a:ext cx="4654296" cy="484632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EF6A41"/>
                </a:solidFill>
                <a:latin typeface="Malgun Gothic"/>
                <a:ea typeface="Malgun Gothic"/>
              </a:rPr>
              <a:t>재생 전 검사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39712" y="5532120"/>
            <a:ext cx="4654296" cy="23317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131A24"/>
                </a:solidFill>
                <a:latin typeface="Malgun Gothic"/>
                <a:ea typeface="Malgun Gothic"/>
              </a:rPr>
              <a:t>저장된 전체 명령의 범위·FK·속도·가속도 확인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2216384" y="4754880"/>
            <a:ext cx="5166360" cy="33192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D3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2216384" y="4754880"/>
            <a:ext cx="109728" cy="3319272"/>
          </a:xfrm>
          <a:prstGeom prst="rect">
            <a:avLst/>
          </a:prstGeom>
          <a:solidFill>
            <a:srgbClr val="42976D"/>
          </a:solidFill>
          <a:ln w="13970">
            <a:solidFill>
              <a:srgbClr val="429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499848" y="4983480"/>
            <a:ext cx="4654296" cy="484632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42976D"/>
                </a:solidFill>
                <a:latin typeface="Malgun Gothic"/>
                <a:ea typeface="Malgun Gothic"/>
              </a:rPr>
              <a:t>1회 재생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499848" y="5532120"/>
            <a:ext cx="4654296" cy="23317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131A24"/>
                </a:solidFill>
                <a:latin typeface="Malgun Gothic"/>
                <a:ea typeface="Malgun Gothic"/>
              </a:rPr>
              <a:t>첫 명령까지 정렬한 뒤 순서대로 출력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131A24"/>
                </a:solidFill>
                <a:latin typeface="Malgun Gothic"/>
                <a:ea typeface="Malgun Gothic"/>
              </a:rPr>
              <a:t>완료 후 마지막 명령 유지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49808" y="832104"/>
            <a:ext cx="438912" cy="438912"/>
          </a:xfrm>
          <a:prstGeom prst="ellipse">
            <a:avLst/>
          </a:prstGeom>
          <a:solidFill>
            <a:srgbClr val="275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804672"/>
            <a:ext cx="438912" cy="438912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Malgun Gothic"/>
                <a:ea typeface="Malgun Gothic"/>
              </a:rPr>
              <a:t>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53312" y="557784"/>
            <a:ext cx="13533120" cy="969264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900" b="1">
                <a:solidFill>
                  <a:srgbClr val="131A24"/>
                </a:solidFill>
                <a:latin typeface="Malgun Gothic"/>
                <a:ea typeface="Malgun Gothic"/>
              </a:rPr>
              <a:t>실제 영상으로 자세 해석 검증</a:t>
            </a:r>
          </a:p>
        </p:txBody>
      </p:sp>
      <p:pic>
        <p:nvPicPr>
          <p:cNvPr id="5" name="Picture 4" descr="kcc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77288" y="310896"/>
            <a:ext cx="2834640" cy="512064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749808" y="1828800"/>
            <a:ext cx="16779240" cy="0"/>
          </a:xfrm>
          <a:prstGeom prst="line">
            <a:avLst/>
          </a:prstGeom>
          <a:ln w="16510">
            <a:solidFill>
              <a:srgbClr val="D3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68096" y="9848088"/>
            <a:ext cx="2743200" cy="24688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C7F"/>
                </a:solidFill>
                <a:latin typeface="Malgun Gothic"/>
                <a:ea typeface="Malgun Gothic"/>
              </a:rPr>
              <a:t>2. Core Tech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62120" y="9838944"/>
            <a:ext cx="512064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C7F"/>
                </a:solidFill>
                <a:latin typeface="Malgun Gothic"/>
                <a:ea typeface="Malgun Gothic"/>
              </a:rPr>
              <a:t>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0976" y="2139696"/>
            <a:ext cx="5138928" cy="1042415"/>
          </a:xfrm>
          <a:prstGeom prst="roundRect">
            <a:avLst>
              <a:gd name="adj" fmla="val 12000"/>
            </a:avLst>
          </a:prstGeom>
          <a:solidFill>
            <a:srgbClr val="EEF4FF"/>
          </a:solidFill>
          <a:ln w="13970">
            <a:solidFill>
              <a:srgbClr val="D3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61288" y="2331720"/>
            <a:ext cx="1664208" cy="603504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300" b="1">
                <a:solidFill>
                  <a:srgbClr val="0F316F"/>
                </a:solidFill>
                <a:latin typeface="Malgun Gothic"/>
                <a:ea typeface="Malgun Gothic"/>
              </a:rPr>
              <a:t>853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350008"/>
            <a:ext cx="3026664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5B6C7F"/>
                </a:solidFill>
                <a:latin typeface="Malgun Gothic"/>
                <a:ea typeface="Malgun Gothic"/>
              </a:rPr>
              <a:t>입력 프레임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01384" y="2139696"/>
            <a:ext cx="5138928" cy="1042415"/>
          </a:xfrm>
          <a:prstGeom prst="roundRect">
            <a:avLst>
              <a:gd name="adj" fmla="val 12000"/>
            </a:avLst>
          </a:prstGeom>
          <a:solidFill>
            <a:srgbClr val="EEF4FF"/>
          </a:solidFill>
          <a:ln w="13970">
            <a:solidFill>
              <a:srgbClr val="D3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11696" y="2331720"/>
            <a:ext cx="1664208" cy="603504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300" b="1">
                <a:solidFill>
                  <a:srgbClr val="0F316F"/>
                </a:solidFill>
                <a:latin typeface="Malgun Gothic"/>
                <a:ea typeface="Malgun Gothic"/>
              </a:rPr>
              <a:t>737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5048" y="2350008"/>
            <a:ext cx="3026664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5B6C7F"/>
                </a:solidFill>
                <a:latin typeface="Malgun Gothic"/>
                <a:ea typeface="Malgun Gothic"/>
              </a:rPr>
              <a:t>유효한 사람 목표값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051792" y="2139696"/>
            <a:ext cx="5138928" cy="1042415"/>
          </a:xfrm>
          <a:prstGeom prst="roundRect">
            <a:avLst>
              <a:gd name="adj" fmla="val 12000"/>
            </a:avLst>
          </a:prstGeom>
          <a:solidFill>
            <a:srgbClr val="EEF4FF"/>
          </a:solidFill>
          <a:ln w="13970">
            <a:solidFill>
              <a:srgbClr val="D3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262104" y="2331720"/>
            <a:ext cx="1664208" cy="603504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300" b="1">
                <a:solidFill>
                  <a:srgbClr val="0F316F"/>
                </a:solidFill>
                <a:latin typeface="Malgun Gothic"/>
                <a:ea typeface="Malgun Gothic"/>
              </a:rPr>
              <a:t>42.6초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935456" y="2350008"/>
            <a:ext cx="3026664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5B6C7F"/>
                </a:solidFill>
                <a:latin typeface="Malgun Gothic"/>
                <a:ea typeface="Malgun Gothic"/>
              </a:rPr>
              <a:t>영상 구간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5256" y="3566160"/>
            <a:ext cx="7818120" cy="4572000"/>
          </a:xfrm>
          <a:prstGeom prst="rect">
            <a:avLst/>
          </a:prstGeom>
          <a:solidFill>
            <a:srgbClr val="FFFFFF"/>
          </a:solidFill>
          <a:ln w="13970">
            <a:solidFill>
              <a:srgbClr val="D3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robot_overview_fram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3648456"/>
            <a:ext cx="7653527" cy="4407408"/>
          </a:xfrm>
          <a:prstGeom prst="rect">
            <a:avLst/>
          </a:prstGeom>
        </p:spPr>
      </p:pic>
      <p:pic>
        <p:nvPicPr>
          <p:cNvPr id="20" name="Picture 19" descr="example6_angl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0" y="3794760"/>
            <a:ext cx="8321040" cy="3941063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14400" y="8430768"/>
            <a:ext cx="16459200" cy="530352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B6C7F"/>
                </a:solidFill>
                <a:latin typeface="Malgun Gothic"/>
                <a:ea typeface="Malgun Gothic"/>
              </a:rPr>
              <a:t>PC 영상·CSV 재생에서 계산한 사람 목표각입니다. 실제 서보 위치 측정값은 아닙니다.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